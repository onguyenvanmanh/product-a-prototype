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19456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Arial"/>
              </a:rPr>
              <a:t>Architecture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474720"/>
            <a:ext cx="10332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BD5E1"/>
                </a:solidFill>
                <a:latin typeface="Arial"/>
              </a:rPr>
              <a:t>Product A · Hệ thống hỗ trợ vận hành chợ bán buôn thủy sản 桜水産市場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85216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Arial"/>
              </a:rPr>
              <a:t>LAB-4 · Wireframe, architecture và detail design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F4E78"/>
                </a:solidFill>
                <a:latin typeface="Arial"/>
              </a:rPr>
              <a:t>Bốn đặc thù nghiệp vụ quyết định kiến trúc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43000"/>
            <a:ext cx="10698480" cy="27432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Arial"/>
              </a:rPr>
              <a:t>Đây không phải chi tiết phụ — chúng là lý do hệ thống không dựng được theo khuôn CRUD thông thường.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194560"/>
            <a:ext cx="10698480" cy="91440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304288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F4E78"/>
                </a:solidFill>
                <a:latin typeface="Arial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2286000"/>
            <a:ext cx="3931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Arial"/>
              </a:rPr>
              <a:t>相対取引 ~90% / せり ~10%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577840" y="228600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Arial"/>
              </a:rPr>
              <a:t>Một bảng giao dịch chung cho cả hai luồng.</a:t>
            </a:r>
          </a:p>
          <a:p>
            <a:pPr algn="l"/>
            <a:r>
              <a:rPr sz="1100" b="0">
                <a:solidFill>
                  <a:srgbClr val="64748B"/>
                </a:solidFill>
                <a:latin typeface="Arial"/>
              </a:rPr>
              <a:t>Không dựng auction engine làm trung tâm.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3218688"/>
            <a:ext cx="10698480" cy="91440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328416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F4E78"/>
                </a:solidFill>
                <a:latin typeface="Arial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3310128"/>
            <a:ext cx="3931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Arial"/>
              </a:rPr>
              <a:t>Hai cấp pháp lý 許可 / 承認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77840" y="3310128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Arial"/>
              </a:rPr>
              <a:t>Bảng tư cách riêng, ràng buộc đúng cặp vai trò,</a:t>
            </a:r>
          </a:p>
          <a:p>
            <a:pPr algn="l"/>
            <a:r>
              <a:rPr sz="1100" b="0">
                <a:solidFill>
                  <a:srgbClr val="64748B"/>
                </a:solidFill>
                <a:latin typeface="Arial"/>
              </a:rPr>
              <a:t>kiểm tại thời điểm chốt giao dịch.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4242816"/>
            <a:ext cx="10698480" cy="91440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4352544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F4E78"/>
                </a:solidFill>
                <a:latin typeface="Arial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4334256"/>
            <a:ext cx="3931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Arial"/>
              </a:rPr>
              <a:t>Sổ không được sửa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77840" y="4334256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Arial"/>
              </a:rPr>
              <a:t>Mô hình ghi-thêm, sửa bằng bút toán đảo,</a:t>
            </a:r>
          </a:p>
          <a:p>
            <a:pPr algn="l"/>
            <a:r>
              <a:rPr sz="1100" b="0">
                <a:solidFill>
                  <a:srgbClr val="64748B"/>
                </a:solidFill>
                <a:latin typeface="Arial"/>
              </a:rPr>
              <a:t>khoá ngày nghiệp vụ.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5266944"/>
            <a:ext cx="10698480" cy="91440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37667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F4E78"/>
                </a:solidFill>
                <a:latin typeface="Arial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5358384"/>
            <a:ext cx="3931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Arial"/>
              </a:rPr>
              <a:t>Quy định đổi theo thời gian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577840" y="5358384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Arial"/>
              </a:rPr>
              <a:t>Tra quy định theo ngày nghiệp vụ,</a:t>
            </a:r>
          </a:p>
          <a:p>
            <a:pPr algn="l"/>
            <a:r>
              <a:rPr sz="1100" b="0">
                <a:solidFill>
                  <a:srgbClr val="64748B"/>
                </a:solidFill>
                <a:latin typeface="Arial"/>
              </a:rPr>
              <a:t>lưu lại phiên bản đã dùng.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F4E78"/>
                </a:solidFill>
                <a:latin typeface="Arial"/>
              </a:rPr>
              <a:t>Kiến trúc PoC — đang chạy ở LAB-3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43000"/>
            <a:ext cx="10698480" cy="27432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Arial"/>
              </a:rPr>
              <a:t>Khối màu vàng: quy tắc nghiệp vụ nằm ở tầng database, không ở tầng ứng dụng. Gọi thẳng API hay thao tác trực tiếp đều không lách được.</a:t>
            </a:r>
          </a:p>
        </p:txBody>
      </p:sp>
      <p:pic>
        <p:nvPicPr>
          <p:cNvPr id="5" name="Picture 4" descr="01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1309" y="2103120"/>
            <a:ext cx="1409075" cy="42976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F4E78"/>
                </a:solidFill>
                <a:latin typeface="Arial"/>
              </a:rPr>
              <a:t>Bảo vệ cổng vào — hai lớp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43000"/>
            <a:ext cx="10698480" cy="27432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Arial"/>
              </a:rPr>
              <a:t>Lớp Edge chỉ kiểm tra CÓ cookie. Xác minh chữ ký HMAC thật nằm ở tầng server. Cookie giả qua được lớp một nhưng chết ở lớp hai.</a:t>
            </a:r>
          </a:p>
        </p:txBody>
      </p:sp>
      <p:pic>
        <p:nvPicPr>
          <p:cNvPr id="5" name="Picture 4" descr="01-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58663" y="2103120"/>
            <a:ext cx="5074369" cy="42976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F4E78"/>
                </a:solidFill>
                <a:latin typeface="Arial"/>
              </a:rPr>
              <a:t>Kiến trúc production đề xuất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43000"/>
            <a:ext cx="10698480" cy="27432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Arial"/>
              </a:rPr>
              <a:t>Khối màu đỏ là phần chưa có trong PoC — 9 mục, chi tiết ở product_a_design_vs_code.xlsx.</a:t>
            </a:r>
          </a:p>
        </p:txBody>
      </p:sp>
      <p:pic>
        <p:nvPicPr>
          <p:cNvPr id="5" name="Picture 4" descr="01-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9344" y="2103120"/>
            <a:ext cx="2953007" cy="42976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F4E78"/>
                </a:solidFill>
                <a:latin typeface="Arial"/>
              </a:rPr>
              <a:t>Luồng dữ liệu chính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43000"/>
            <a:ext cx="10698480" cy="27432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Arial"/>
              </a:rPr>
              <a:t>Mỗi mũi tên là một lần GHI vào sổ, không phải một lần sửa. Tổng tiền ở bước đối soát cộng cả dòng đảo mang số âm.</a:t>
            </a:r>
          </a:p>
        </p:txBody>
      </p:sp>
      <p:pic>
        <p:nvPicPr>
          <p:cNvPr id="5" name="Picture 4" descr="01-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6607" y="2103120"/>
            <a:ext cx="10698480" cy="136460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F4E78"/>
                </a:solidFill>
                <a:latin typeface="Arial"/>
              </a:rPr>
              <a:t>Bốn điểm phân nhánh đặc thù — không được làm phẳng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43000"/>
            <a:ext cx="10698480" cy="27432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Arial"/>
              </a:rPr>
              <a:t>Mục tiêu học tập LAB-4 nhấn mạnh: không đơn giản hóa thành luồng tuyến tính chung.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F4E78"/>
                </a:solidFill>
                <a:latin typeface="Arial"/>
              </a:rPr>
              <a:t>Phân nhánh 1 · Loại giao dịch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43000"/>
            <a:ext cx="10698480" cy="27432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Arial"/>
              </a:rPr>
              <a:t>Hai nhánh vào CÙNG một bảng. Tách hai bảng thì mọi báo cáo và quy tắc phải viết hai lần, và tỷ trọng 90/10 không tính được bằng một truy vấn.</a:t>
            </a:r>
          </a:p>
        </p:txBody>
      </p:sp>
      <p:pic>
        <p:nvPicPr>
          <p:cNvPr id="5" name="Picture 4" descr="01-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3887" y="2103120"/>
            <a:ext cx="2383921" cy="429768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F4E78"/>
                </a:solidFill>
                <a:latin typeface="Arial"/>
              </a:rPr>
              <a:t>Phân nhánh 2 · Hai cấp pháp lý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43000"/>
            <a:ext cx="10698480" cy="27432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Arial"/>
              </a:rPr>
              <a:t>許可 và 承認 KHÔNG phải hai mức của cùng một thứ. Gộp thành một cờ là sai luật, tài liệu khách cấm đích danh.</a:t>
            </a:r>
          </a:p>
        </p:txBody>
      </p:sp>
      <p:pic>
        <p:nvPicPr>
          <p:cNvPr id="5" name="Picture 4" descr="01-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59976" y="2103120"/>
            <a:ext cx="3471741" cy="429768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F4E78"/>
                </a:solidFill>
                <a:latin typeface="Arial"/>
              </a:rPr>
              <a:t>Phân nhánh 3 · Khoá ngày nghiệp vụ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43000"/>
            <a:ext cx="10698480" cy="27432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Arial"/>
              </a:rPr>
              <a:t>Kiểm ở trigger chứ không ở tầng ứng dụng. Kiểm bằng câu if trong API thì gọi thẳng database vẫn ghi được.</a:t>
            </a:r>
          </a:p>
        </p:txBody>
      </p:sp>
      <p:pic>
        <p:nvPicPr>
          <p:cNvPr id="5" name="Picture 4" descr="01-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5720" y="2103120"/>
            <a:ext cx="2380253" cy="429768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F4E78"/>
                </a:solidFill>
                <a:latin typeface="Arial"/>
              </a:rPr>
              <a:t>Phân nhánh 4 · Tra quy định theo thời gian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43000"/>
            <a:ext cx="10698480" cy="27432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Arial"/>
              </a:rPr>
              <a:t>Điều kiện effective_from &lt;= D là toàn bộ sự khác nhau giữa đúng và sai. Bỏ nó đi thì mã vẫn chạy, vẫn ra số, chỉ sai nghiệp vụ.</a:t>
            </a:r>
          </a:p>
        </p:txBody>
      </p:sp>
      <p:pic>
        <p:nvPicPr>
          <p:cNvPr id="5" name="Picture 4" descr="01-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1487" y="2103120"/>
            <a:ext cx="2888720" cy="429768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F4E78"/>
                </a:solidFill>
                <a:latin typeface="Arial"/>
              </a:rPr>
              <a:t>Điểm tích hợp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43000"/>
            <a:ext cx="10698480" cy="27432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Arial"/>
              </a:rPr>
              <a:t>Bốn điểm, cả bốn đều CHƯA có trong PoC.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2194560"/>
          <a:ext cx="1069848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3108960"/>
                <a:gridCol w="3931920"/>
                <a:gridCol w="2194560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Mã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Đối tác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Phương thức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Trạng thái PoC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/>
                        <a:t>IF-ACC-01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Hệ thống kế toán của khách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CSV đẩy SFTP sau khi khoá sổ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Chưa có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/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Dịch vụ gửi email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SMTP, có thử lại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Chưa có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/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App Store / Google Play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Phát hành ứng dụng native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Chưa có (đã bỏ native)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/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Lưu trữ ảnh chứng cứ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S3 + lifecycle Glacier sau 3 năm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Chưa có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31520" y="45720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Arial"/>
              </a:rPr>
              <a:t>Phương thức của IF-ACC-01 vẫn là giả định ASM-14 của LAB-1 — khách chưa xác nhận. Nếu khách yêu cầu gọi API thay vì đẩy file thì phát sinh thêm tài liệu API, xử lý lỗi và thử lại.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F4E78"/>
                </a:solidFill>
                <a:latin typeface="Arial"/>
              </a:rPr>
              <a:t>Mô hình dữ liệu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43000"/>
            <a:ext cx="10698480" cy="27432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Arial"/>
              </a:rPr>
              <a:t>12 bảng · 5 kiểu liệt kê · 4 hàm · 5 trigger. Dựng từ supabase/01_schema.sql thật, không phải từ thiết kế trên giấy.</a:t>
            </a:r>
          </a:p>
        </p:txBody>
      </p:sp>
      <p:pic>
        <p:nvPicPr>
          <p:cNvPr id="5" name="Picture 4" descr="02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6799" y="2103120"/>
            <a:ext cx="8238095" cy="42976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